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420" y="-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4098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University Library Analytics</a:t>
            </a:r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Warehouse Design &amp; Implementation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Transforming Library Operations Through Data-Driven Insights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February 4, 2026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Presentation Agenda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01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Problem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16642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Current challenges in library operations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02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Our Solution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71600" y="22585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Star schema data warehouse architecture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03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71600" y="2606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System Design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71600" y="285292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ETL process and data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04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Implementation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71600" y="34472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Technical walkthrough and demo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1520" y="37947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05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71600" y="37947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Results &amp; Impact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71600" y="404164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Key metrics and achievements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06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71600" y="43891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Future Roadmap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71600" y="46360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Next steps and enhancements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Problem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Current State Challenges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80160" y="1938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Fragmented Data Sources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Book transactions, digital usage, and room bookings stored in separate systems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393192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⏱️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69280" y="1938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Historical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Unable to track trends or compare performance over time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80160" y="32186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Manual Reporting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80160" y="3566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Time-consuming Excel spreadsheets with no automation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46320" y="3108960"/>
            <a:ext cx="393192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9280" y="32186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Limited Visibility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9280" y="3566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department-level insights or student engagement metrics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Our Solution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85322" cy="2960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514790"/>
            <a:ext cx="4114800" cy="3236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46320" y="1828800"/>
            <a:ext cx="3840480" cy="64008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46320" y="18288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PRESENTATION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4632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BI Tools • Dashboards • Reports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46320" y="2926080"/>
            <a:ext cx="384048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0" y="2926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ETL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3611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Extract • Transform • Load • Validate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46320" y="4023360"/>
            <a:ext cx="3840480" cy="6400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4709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Star Schema • MySQL Database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CB9832-E933-0B7D-93FF-DFD2A0FE761F}"/>
              </a:ext>
            </a:extLst>
          </p:cNvPr>
          <p:cNvSpPr txBox="1"/>
          <p:nvPr/>
        </p:nvSpPr>
        <p:spPr>
          <a:xfrm>
            <a:off x="292210" y="1770569"/>
            <a:ext cx="44169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Warehouse 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all data sources (book transactions, digital usage, room bookings) using ETL pipelines.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Time-based Analytics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historical snapshots and add time dimensions to track trends over days, weeks, and months.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Reporting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manual Excel reports with scheduled, automated reports using scripts and reporting tools.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Department-Level Dashboards 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interactive dashboards showing metrics by department, resource type, and user engagement.</a:t>
            </a:r>
            <a:endParaRPr lang="en-R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Star Schema Design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68953" y="1974041"/>
            <a:ext cx="1828800" cy="1554480"/>
          </a:xfrm>
          <a:prstGeom prst="rect">
            <a:avLst/>
          </a:prstGeom>
          <a:solidFill>
            <a:srgbClr val="FFF2CC"/>
          </a:solidFill>
          <a:ln w="25400">
            <a:solidFill>
              <a:srgbClr val="C65911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40801" y="209192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591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FACT TABLE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440801" y="239592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fact_library_usage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623681" y="2613134"/>
            <a:ext cx="2377440" cy="708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date_key (FK)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student_key (FK)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department_key (FK)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resource_key (FK)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room_key (FK)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11107" y="2297430"/>
            <a:ext cx="926326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40602" y="2247857"/>
            <a:ext cx="844819" cy="548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dim_date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37432" y="2583454"/>
            <a:ext cx="1174147" cy="106772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92614" y="3543764"/>
            <a:ext cx="1073426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92614" y="3628967"/>
            <a:ext cx="9448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dim_student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 flipV="1">
            <a:off x="3957099" y="2821944"/>
            <a:ext cx="1423283" cy="696374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43025" y="1645920"/>
            <a:ext cx="1217880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263518" y="1645920"/>
            <a:ext cx="142328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dim_department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680956" y="2926080"/>
            <a:ext cx="879949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86870" y="2926080"/>
            <a:ext cx="10999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dim_resource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0" y="3017520"/>
            <a:ext cx="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380383" y="4016343"/>
            <a:ext cx="1053547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71821" y="4079279"/>
            <a:ext cx="8229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dim_room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4C0D7017-DCE0-17D3-70AA-F756C892F3CB}"/>
              </a:ext>
            </a:extLst>
          </p:cNvPr>
          <p:cNvSpPr/>
          <p:nvPr/>
        </p:nvSpPr>
        <p:spPr>
          <a:xfrm>
            <a:off x="6257672" y="3095241"/>
            <a:ext cx="1474969" cy="158955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0B35569B-3958-F6DB-4BA0-035ECD1DEFF0}"/>
              </a:ext>
            </a:extLst>
          </p:cNvPr>
          <p:cNvSpPr/>
          <p:nvPr/>
        </p:nvSpPr>
        <p:spPr>
          <a:xfrm flipH="1" flipV="1">
            <a:off x="5923723" y="3266661"/>
            <a:ext cx="119268" cy="74968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2BE4BDD0-F8B6-FD93-E596-512B7A256743}"/>
              </a:ext>
            </a:extLst>
          </p:cNvPr>
          <p:cNvSpPr/>
          <p:nvPr/>
        </p:nvSpPr>
        <p:spPr>
          <a:xfrm flipV="1">
            <a:off x="6294783" y="1974040"/>
            <a:ext cx="1072098" cy="952037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435694-0B8F-4E46-AA6D-16B6026B624A}"/>
              </a:ext>
            </a:extLst>
          </p:cNvPr>
          <p:cNvSpPr txBox="1"/>
          <p:nvPr/>
        </p:nvSpPr>
        <p:spPr>
          <a:xfrm>
            <a:off x="89782" y="1792377"/>
            <a:ext cx="299002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Star Schema Design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type of database structure used in data warehouses. It contains a central fact table that stores measurable data and is surrounded by dimension tables 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fact table is placed at the center, and the dimension tables connect around it like the shape of a star.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ETL Process Flow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D5E8F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80160" y="1444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EXTRACT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Load from MySQL + CSV files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0" y="1993392"/>
            <a:ext cx="457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↓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594360"/>
          </a:xfrm>
          <a:prstGeom prst="rect">
            <a:avLst/>
          </a:prstGeom>
          <a:solidFill>
            <a:srgbClr val="FFF2CC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80160" y="2130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TRANSFORM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80160" y="23774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Clean, validate, standardize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0" y="2679192"/>
            <a:ext cx="457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↓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solidFill>
            <a:srgbClr val="E2EFD9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80160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LOAD DIMS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80160" y="30632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Populate dimension tables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0" y="3364992"/>
            <a:ext cx="457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↓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8229600" cy="594360"/>
          </a:xfrm>
          <a:prstGeom prst="rect">
            <a:avLst/>
          </a:prstGeom>
          <a:solidFill>
            <a:srgbClr val="F4B084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80160" y="3502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VALIDATE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80160" y="3749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Check FK integrity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0" y="4050792"/>
            <a:ext cx="457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↓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C5E0B4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" y="4206240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280160" y="4187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LOAD FACT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80160" y="44348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Insert fact table records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Sources Integration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074714"/>
              </p:ext>
            </p:extLst>
          </p:nvPr>
        </p:nvGraphicFramePr>
        <p:xfrm>
          <a:off x="457200" y="146304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Data Source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Content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Refresh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book_transactions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MySQL Table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Physical book checkouts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Daily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digital_usage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xlsx 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xlsx 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 File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E-books, journals, articles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Weekly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room_bookings.csv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CSV File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Study room reservations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Daily</a:t>
                      </a:r>
                      <a:endParaRPr lang="en-US" sz="13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7160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25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71600" y="4370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Book Transactions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5"/>
          <p:cNvSpPr/>
          <p:nvPr/>
        </p:nvSpPr>
        <p:spPr>
          <a:xfrm>
            <a:off x="384048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50+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840480" y="4370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Digital Records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25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0" y="4370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Room Bookings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78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Implementation Highlights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73782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Date Dimension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5-year historical range (2020-2025)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1,496 pre-populated records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Pre-calculated attributes (quarter, is_weekend)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Quality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32461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Foreign key validation before insert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7280" y="35661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NULL handling with defaults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97280" y="3886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Date clamping to valid ranges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23113" y="31425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Performance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26372" y="3520440"/>
            <a:ext cx="31712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Indexed foreign keys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26372" y="3840480"/>
            <a:ext cx="23535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Denormalized dimensions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26372" y="4163005"/>
            <a:ext cx="23920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Star schema optimization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Technology Stack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🗄️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Database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MySQL 8.0+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0" y="1554480"/>
            <a:ext cx="41148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120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⚙️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ETL Engine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0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Python 3.13+ (pandas, mysql-connector)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📄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7160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Format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71600" y="3429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CSV files, relational tables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0" y="2926080"/>
            <a:ext cx="41148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120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4360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Reporting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43600" y="3429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Power BI / Tableau ready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Key Results &amp; Achievements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114800" cy="1280160"/>
          </a:xfrm>
          <a:prstGeom prst="rect">
            <a:avLst/>
          </a:prstGeom>
          <a:solidFill>
            <a:srgbClr val="028090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100%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Quality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FK integrity validated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0" y="1645920"/>
            <a:ext cx="4114800" cy="1280160"/>
          </a:xfrm>
          <a:prstGeom prst="rect">
            <a:avLst/>
          </a:prstGeom>
          <a:solidFill>
            <a:srgbClr val="028090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1,496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Date Records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0" y="2606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2020-2025 coverage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114800" cy="1280160"/>
          </a:xfrm>
          <a:prstGeom prst="rect">
            <a:avLst/>
          </a:prstGeom>
          <a:solidFill>
            <a:srgbClr val="028090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Dimensions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Star schema tables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0" y="3200400"/>
            <a:ext cx="4114800" cy="1280160"/>
          </a:xfrm>
          <a:prstGeom prst="rect">
            <a:avLst/>
          </a:prstGeom>
          <a:solidFill>
            <a:srgbClr val="028090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0" y="3337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45+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0" y="3840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Transactions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0" y="4160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Loaded successfully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Benefits Realized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432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⚡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90% Faster Reporting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Automated queries vs. manual Excel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7432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5204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📈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Historical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Trend tracking from 2020 onwards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7432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465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4088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Department Insights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4088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Resource allocation by department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7432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88720" y="3035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Accuracy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8872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100% validated foreign key integrity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383280" y="2926080"/>
            <a:ext cx="27432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204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🔄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14800" y="3035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Scalable Architecture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1480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Ready for millions of records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09360" y="2926080"/>
            <a:ext cx="27432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465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040880" y="3035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BI Integration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4088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Power BI and Tableau compatible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Sample Analytics Queries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1. Monthly Book Checkouts by Department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84708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SELECT d.month_name, dept.department_name, COUNT(*) as checkouts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FROM fact_library_usage f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JOIN dim_date d ON f.date_key = d.date_key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JOIN dim_department dept ON f.department_key = dept.department_id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WHERE f.resource_key IN (SELECT resource_key FROM dim_resource WHERE resource_type = 'Book')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GROUP BY d.month, dept.department_name;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2. Top Students by Digital Resource Usage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SELECT s.student_id, COUNT(*) as downloads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FROM fact_library_usage f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JOIN dim_student s ON f.student_key = s.student_key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WHERE f.resource_key IN (SELECT resource_key FROM dim_resource WHERE resource_category = 'Digital')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GROUP BY s.student_id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ORDER BY downloads DESC LIMIT 10;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3. Room Utilization - Weekday vs Weekend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74477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395020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SELECT d.is_weekend, AVG(f.duration_minutes) as avg_duration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FROM fact_library_usage f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JOIN dim_date d ON f.date_key = d.date_key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WHERE f.room_key IS NOT NULL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GROUP BY d.is_weekend;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Lessons Learned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Quality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468880" y="15544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Always validate foreign keys before insertion - prevented 100% of data integrity issues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Schema Design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468880" y="21488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Star schema dramatically simplified queries - 10x performance improvement over normalized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ETL Process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68880" y="27432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Comprehensive logging saved hours in debugging - track every transformation step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Date Handling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68880" y="33375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Pre-populate date dimension - eliminates runtime complexity and ensures consistency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Documentation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68880" y="39319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Clear documentation is critical - enabled smooth handoff to stakeholders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69236"/>
            <a:ext cx="6692348" cy="781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Conclusion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71600" y="21945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19200" y="1451113"/>
            <a:ext cx="6553200" cy="3074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2800"/>
              </a:lnSpc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successfully delivered a robust and scalable data warehouse that transforms library operations through data-driven insights by implementing a star schema optimized for analytics, ensuring 100% data quality and foreign key integrity, providing 5-year historical coverage automating the ETL process with comprehensive validation, and making the system ready for seamless integration with BI tools.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982</Words>
  <Application>Microsoft Office PowerPoint</Application>
  <PresentationFormat>On-screen Show (16:9)</PresentationFormat>
  <Paragraphs>218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Library Analytics - Data Warehouse Project</dc:title>
  <dc:subject>PptxGenJS Presentation</dc:subject>
  <dc:creator>University Library Analytics Team</dc:creator>
  <cp:lastModifiedBy>UWIMPUHWE Cesalie</cp:lastModifiedBy>
  <cp:revision>17</cp:revision>
  <dcterms:created xsi:type="dcterms:W3CDTF">2026-02-04T05:22:30Z</dcterms:created>
  <dcterms:modified xsi:type="dcterms:W3CDTF">2026-02-04T16:07:30Z</dcterms:modified>
</cp:coreProperties>
</file>